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7300"/>
    <a:srgbClr val="FFBB29"/>
    <a:srgbClr val="EB8900"/>
    <a:srgbClr val="CF8013"/>
    <a:srgbClr val="404040"/>
    <a:srgbClr val="E3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E104F-3F17-4985-B879-59BBA09DE5B9}" v="75" dt="2026-03-09T00:47:38.869"/>
    <p1510:client id="{1EF19F97-653A-4D0F-A760-9EDB9C0370BB}" v="285" dt="2026-03-09T07:33:53.935"/>
    <p1510:client id="{B03C8061-368C-4CDA-BF88-253C3FBF851B}" v="46" dt="2026-03-09T00:50:48.658"/>
    <p1510:client id="{DA4834A5-AB72-43EA-8FB2-7CDA00EA1B9C}" v="3515" dt="2026-03-10T22:57:13.3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Светъл стил 2 -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EBBBCC-DAD2-459C-BE2E-F6DE35CF9A28}" styleName="Тъмен стил 2 -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AFD76-CC47-4BAD-848E-672370CAF8B0}" type="datetimeFigureOut">
              <a:t>10.3.2026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9C541-BC7E-4272-9E92-94AFAB848A42}" type="slidenum"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38340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03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10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5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5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6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4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9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2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74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3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A9D6085-19B4-F392-63C5-BA1BA9B1C3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bg-BG" sz="5400" dirty="0"/>
              <a:t>Карти на</a:t>
            </a:r>
            <a:br>
              <a:rPr lang="bg-BG" sz="5400" dirty="0"/>
            </a:br>
            <a:r>
              <a:rPr lang="bg-BG" dirty="0">
                <a:solidFill>
                  <a:srgbClr val="002060"/>
                </a:solidFill>
              </a:rPr>
              <a:t> </a:t>
            </a:r>
            <a:r>
              <a:rPr lang="bg-BG" sz="7200" dirty="0">
                <a:solidFill>
                  <a:srgbClr val="002060"/>
                </a:solidFill>
              </a:rPr>
              <a:t>Европа</a:t>
            </a:r>
            <a:r>
              <a:rPr lang="bg-BG" sz="7200" dirty="0">
                <a:solidFill>
                  <a:srgbClr val="C00000"/>
                </a:solidFill>
              </a:rPr>
              <a:t> </a:t>
            </a:r>
            <a:r>
              <a:rPr lang="bg-BG" sz="7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и</a:t>
            </a:r>
            <a:r>
              <a:rPr lang="bg-BG" sz="7200" dirty="0">
                <a:solidFill>
                  <a:srgbClr val="C00000"/>
                </a:solidFill>
              </a:rPr>
              <a:t> </a:t>
            </a:r>
            <a:r>
              <a:rPr lang="bg-BG" sz="7200" dirty="0">
                <a:solidFill>
                  <a:schemeClr val="bg1">
                    <a:lumMod val="65000"/>
                  </a:schemeClr>
                </a:solidFill>
              </a:rPr>
              <a:t>Бъ</a:t>
            </a:r>
            <a:r>
              <a:rPr lang="bg-BG" sz="7200" dirty="0">
                <a:solidFill>
                  <a:srgbClr val="00B050"/>
                </a:solidFill>
              </a:rPr>
              <a:t>лга</a:t>
            </a:r>
            <a:r>
              <a:rPr lang="bg-BG" sz="7200" dirty="0">
                <a:solidFill>
                  <a:srgbClr val="C00000"/>
                </a:solidFill>
              </a:rPr>
              <a:t>рия</a:t>
            </a:r>
            <a:r>
              <a:rPr lang="bg-BG" dirty="0">
                <a:solidFill>
                  <a:srgbClr val="00B050"/>
                </a:solidFill>
              </a:rPr>
              <a:t> </a:t>
            </a:r>
            <a:br>
              <a:rPr lang="bg-BG" dirty="0">
                <a:solidFill>
                  <a:srgbClr val="00B050"/>
                </a:solidFill>
              </a:rPr>
            </a:br>
            <a:r>
              <a:rPr lang="bg-BG" dirty="0"/>
              <a:t>след 1815 г.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59BF8681-53DE-ED44-C486-59707D511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3364" y="3865050"/>
            <a:ext cx="9144000" cy="1066890"/>
          </a:xfrm>
        </p:spPr>
        <p:txBody>
          <a:bodyPr/>
          <a:lstStyle/>
          <a:p>
            <a:r>
              <a:rPr lang="bg-BG" sz="2800"/>
              <a:t>От Николай </a:t>
            </a:r>
            <a:r>
              <a:rPr lang="bg-BG" sz="2800" err="1"/>
              <a:t>Колчагов</a:t>
            </a:r>
            <a:endParaRPr lang="bg-BG" sz="2800"/>
          </a:p>
        </p:txBody>
      </p:sp>
      <p:pic>
        <p:nvPicPr>
          <p:cNvPr id="9" name="Картина 8" descr="Hisatlas - Map of Europe 1800-1814">
            <a:extLst>
              <a:ext uri="{FF2B5EF4-FFF2-40B4-BE49-F238E27FC236}">
                <a16:creationId xmlns:a16="http://schemas.microsoft.com/office/drawing/2014/main" id="{E9666391-6EE8-A9ED-AA9A-5FDFC19C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5" t="17252" r="159" b="-207"/>
          <a:stretch>
            <a:fillRect/>
          </a:stretch>
        </p:blipFill>
        <p:spPr>
          <a:xfrm rot="1680000">
            <a:off x="940691" y="3177167"/>
            <a:ext cx="2282731" cy="2444926"/>
          </a:xfrm>
          <a:prstGeom prst="rect">
            <a:avLst/>
          </a:prstGeom>
          <a:ln>
            <a:noFill/>
          </a:ln>
        </p:spPr>
      </p:pic>
      <p:pic>
        <p:nvPicPr>
          <p:cNvPr id="25" name="Контейнер за съдържание 6" descr="Map of Europe at the time of Treaty of Vienna in 1815 - Answers">
            <a:extLst>
              <a:ext uri="{FF2B5EF4-FFF2-40B4-BE49-F238E27FC236}">
                <a16:creationId xmlns:a16="http://schemas.microsoft.com/office/drawing/2014/main" id="{8093F7B6-B966-FD4A-8E17-AA240506FA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" t="12314" r="584" b="6369"/>
          <a:stretch>
            <a:fillRect/>
          </a:stretch>
        </p:blipFill>
        <p:spPr>
          <a:xfrm rot="1500000">
            <a:off x="8086106" y="-829585"/>
            <a:ext cx="4542204" cy="312154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Контейнер за съдържание 7" descr="Картина, която съдържа текст, карта, атлас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EDF752EC-C10D-73AF-74C2-194DD4E7D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40000">
            <a:off x="9164309" y="2810752"/>
            <a:ext cx="2890807" cy="3277684"/>
          </a:xfrm>
          <a:prstGeom prst="rect">
            <a:avLst/>
          </a:prstGeom>
        </p:spPr>
      </p:pic>
      <p:grpSp>
        <p:nvGrpSpPr>
          <p:cNvPr id="10" name="Групиране 9">
            <a:extLst>
              <a:ext uri="{FF2B5EF4-FFF2-40B4-BE49-F238E27FC236}">
                <a16:creationId xmlns:a16="http://schemas.microsoft.com/office/drawing/2014/main" id="{8741D282-2F2B-3E6D-9721-822F4AEE8A8D}"/>
              </a:ext>
            </a:extLst>
          </p:cNvPr>
          <p:cNvGrpSpPr/>
          <p:nvPr/>
        </p:nvGrpSpPr>
        <p:grpSpPr>
          <a:xfrm rot="1620000">
            <a:off x="816674" y="3121003"/>
            <a:ext cx="2459436" cy="2982240"/>
            <a:chOff x="710507" y="663910"/>
            <a:chExt cx="3603880" cy="4380170"/>
          </a:xfrm>
        </p:grpSpPr>
        <p:sp>
          <p:nvSpPr>
            <p:cNvPr id="4" name="Правоъгълник 3">
              <a:extLst>
                <a:ext uri="{FF2B5EF4-FFF2-40B4-BE49-F238E27FC236}">
                  <a16:creationId xmlns:a16="http://schemas.microsoft.com/office/drawing/2014/main" id="{61909566-236A-1259-694F-B6CE9BE50094}"/>
                </a:ext>
              </a:extLst>
            </p:cNvPr>
            <p:cNvSpPr/>
            <p:nvPr/>
          </p:nvSpPr>
          <p:spPr>
            <a:xfrm>
              <a:off x="713965" y="745389"/>
              <a:ext cx="267841" cy="42038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5" name="Правоъгълник 4">
              <a:extLst>
                <a:ext uri="{FF2B5EF4-FFF2-40B4-BE49-F238E27FC236}">
                  <a16:creationId xmlns:a16="http://schemas.microsoft.com/office/drawing/2014/main" id="{10E9D8AA-5508-EC44-B7AB-0F69A5639CE0}"/>
                </a:ext>
              </a:extLst>
            </p:cNvPr>
            <p:cNvSpPr/>
            <p:nvPr/>
          </p:nvSpPr>
          <p:spPr>
            <a:xfrm>
              <a:off x="4039319" y="738150"/>
              <a:ext cx="275068" cy="3886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" name="Правоъгълник 5">
              <a:extLst>
                <a:ext uri="{FF2B5EF4-FFF2-40B4-BE49-F238E27FC236}">
                  <a16:creationId xmlns:a16="http://schemas.microsoft.com/office/drawing/2014/main" id="{97D7492A-415C-787F-D4D5-F96437875E74}"/>
                </a:ext>
              </a:extLst>
            </p:cNvPr>
            <p:cNvSpPr/>
            <p:nvPr/>
          </p:nvSpPr>
          <p:spPr>
            <a:xfrm rot="5400000">
              <a:off x="2383916" y="-1009499"/>
              <a:ext cx="247563" cy="35943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" name="Правоъгълник 6">
              <a:extLst>
                <a:ext uri="{FF2B5EF4-FFF2-40B4-BE49-F238E27FC236}">
                  <a16:creationId xmlns:a16="http://schemas.microsoft.com/office/drawing/2014/main" id="{16DC5909-3587-80E3-8F8B-AABF8FE3A554}"/>
                </a:ext>
              </a:extLst>
            </p:cNvPr>
            <p:cNvSpPr/>
            <p:nvPr/>
          </p:nvSpPr>
          <p:spPr>
            <a:xfrm rot="5400000">
              <a:off x="1941642" y="2676473"/>
              <a:ext cx="1137839" cy="35973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2" name="Групиране 11">
            <a:extLst>
              <a:ext uri="{FF2B5EF4-FFF2-40B4-BE49-F238E27FC236}">
                <a16:creationId xmlns:a16="http://schemas.microsoft.com/office/drawing/2014/main" id="{B81F0856-E2AE-027A-28DC-3DDCEF29AC08}"/>
              </a:ext>
            </a:extLst>
          </p:cNvPr>
          <p:cNvGrpSpPr/>
          <p:nvPr/>
        </p:nvGrpSpPr>
        <p:grpSpPr>
          <a:xfrm rot="-240000">
            <a:off x="8962905" y="2652022"/>
            <a:ext cx="3258310" cy="4076078"/>
            <a:chOff x="710507" y="663910"/>
            <a:chExt cx="3603880" cy="4380170"/>
          </a:xfrm>
        </p:grpSpPr>
        <p:sp>
          <p:nvSpPr>
            <p:cNvPr id="13" name="Правоъгълник 12">
              <a:extLst>
                <a:ext uri="{FF2B5EF4-FFF2-40B4-BE49-F238E27FC236}">
                  <a16:creationId xmlns:a16="http://schemas.microsoft.com/office/drawing/2014/main" id="{2E55C31B-4421-B75C-BC62-C3144628AFB8}"/>
                </a:ext>
              </a:extLst>
            </p:cNvPr>
            <p:cNvSpPr/>
            <p:nvPr/>
          </p:nvSpPr>
          <p:spPr>
            <a:xfrm>
              <a:off x="713965" y="745389"/>
              <a:ext cx="267841" cy="42038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Правоъгълник 13">
              <a:extLst>
                <a:ext uri="{FF2B5EF4-FFF2-40B4-BE49-F238E27FC236}">
                  <a16:creationId xmlns:a16="http://schemas.microsoft.com/office/drawing/2014/main" id="{5AC0DC8C-4441-4D5A-4D1D-99891B966012}"/>
                </a:ext>
              </a:extLst>
            </p:cNvPr>
            <p:cNvSpPr/>
            <p:nvPr/>
          </p:nvSpPr>
          <p:spPr>
            <a:xfrm>
              <a:off x="4039319" y="738150"/>
              <a:ext cx="275068" cy="3886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5" name="Правоъгълник 14">
              <a:extLst>
                <a:ext uri="{FF2B5EF4-FFF2-40B4-BE49-F238E27FC236}">
                  <a16:creationId xmlns:a16="http://schemas.microsoft.com/office/drawing/2014/main" id="{E77B205B-2C28-6D62-56BD-D72CF3422982}"/>
                </a:ext>
              </a:extLst>
            </p:cNvPr>
            <p:cNvSpPr/>
            <p:nvPr/>
          </p:nvSpPr>
          <p:spPr>
            <a:xfrm rot="5400000">
              <a:off x="2383916" y="-1009499"/>
              <a:ext cx="247563" cy="35943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6" name="Правоъгълник 15">
              <a:extLst>
                <a:ext uri="{FF2B5EF4-FFF2-40B4-BE49-F238E27FC236}">
                  <a16:creationId xmlns:a16="http://schemas.microsoft.com/office/drawing/2014/main" id="{119192A6-8AA5-C7CE-C777-45335AF63089}"/>
                </a:ext>
              </a:extLst>
            </p:cNvPr>
            <p:cNvSpPr/>
            <p:nvPr/>
          </p:nvSpPr>
          <p:spPr>
            <a:xfrm rot="5400000">
              <a:off x="1941642" y="2676473"/>
              <a:ext cx="1137839" cy="35973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pic>
        <p:nvPicPr>
          <p:cNvPr id="27" name="Контейнер за съдържание 14" descr="Санстефански мирен договор – Уикипедия">
            <a:extLst>
              <a:ext uri="{FF2B5EF4-FFF2-40B4-BE49-F238E27FC236}">
                <a16:creationId xmlns:a16="http://schemas.microsoft.com/office/drawing/2014/main" id="{442C80E3-77A0-E460-8D6B-64C44F16E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60000">
            <a:off x="1616384" y="4863442"/>
            <a:ext cx="5257276" cy="29479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9630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везда: 8 лъча 6">
            <a:extLst>
              <a:ext uri="{FF2B5EF4-FFF2-40B4-BE49-F238E27FC236}">
                <a16:creationId xmlns:a16="http://schemas.microsoft.com/office/drawing/2014/main" id="{60FC063B-08CA-78E3-7A7E-83A241904A7A}"/>
              </a:ext>
            </a:extLst>
          </p:cNvPr>
          <p:cNvSpPr/>
          <p:nvPr/>
        </p:nvSpPr>
        <p:spPr>
          <a:xfrm>
            <a:off x="-117737" y="34103"/>
            <a:ext cx="1462077" cy="1408186"/>
          </a:xfrm>
          <a:prstGeom prst="star8">
            <a:avLst/>
          </a:prstGeom>
          <a:solidFill>
            <a:srgbClr val="FFBB2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571407-DA92-3FAF-3C22-FD71E708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821" y="964025"/>
            <a:ext cx="5533319" cy="1213737"/>
          </a:xfrm>
        </p:spPr>
        <p:txBody>
          <a:bodyPr>
            <a:normAutofit fontScale="90000"/>
          </a:bodyPr>
          <a:lstStyle/>
          <a:p>
            <a:r>
              <a:rPr lang="bg-BG" sz="7200" dirty="0"/>
              <a:t>Европа преди 1815 година</a:t>
            </a:r>
            <a:endParaRPr lang="bg-BG" dirty="0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180F7C60-44AC-E16C-F752-EED9AE4D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A7F30-34C9-4A96-A9DF-0BDBB62C64D8}" type="datetime1">
              <a:t>10.3.2026 г.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40483885-9C35-E3E8-D2F2-F318AF95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046EEA84-490C-3F0F-D60E-23EC068E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/>
          </a:p>
        </p:txBody>
      </p:sp>
      <p:sp>
        <p:nvSpPr>
          <p:cNvPr id="9" name="Заглавие 1">
            <a:extLst>
              <a:ext uri="{FF2B5EF4-FFF2-40B4-BE49-F238E27FC236}">
                <a16:creationId xmlns:a16="http://schemas.microsoft.com/office/drawing/2014/main" id="{AA9AB8C4-74D3-FAB7-1DFF-F4693278FF2D}"/>
              </a:ext>
            </a:extLst>
          </p:cNvPr>
          <p:cNvSpPr txBox="1">
            <a:spLocks/>
          </p:cNvSpPr>
          <p:nvPr/>
        </p:nvSpPr>
        <p:spPr>
          <a:xfrm>
            <a:off x="324139" y="32895"/>
            <a:ext cx="919566" cy="1203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7200" dirty="0">
                <a:solidFill>
                  <a:schemeClr val="accent2">
                    <a:lumMod val="49000"/>
                  </a:schemeClr>
                </a:solidFill>
              </a:rPr>
              <a:t>1.</a:t>
            </a:r>
            <a:endParaRPr lang="bg-BG">
              <a:solidFill>
                <a:schemeClr val="accent2">
                  <a:lumMod val="49000"/>
                </a:schemeClr>
              </a:solidFill>
            </a:endParaRPr>
          </a:p>
        </p:txBody>
      </p:sp>
      <p:sp>
        <p:nvSpPr>
          <p:cNvPr id="19" name="Контейнер за съдържание 18">
            <a:extLst>
              <a:ext uri="{FF2B5EF4-FFF2-40B4-BE49-F238E27FC236}">
                <a16:creationId xmlns:a16="http://schemas.microsoft.com/office/drawing/2014/main" id="{044E7307-C886-C99F-4B9B-220FB9AEA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851" y="2262367"/>
            <a:ext cx="5692996" cy="39038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1" indent="0">
              <a:lnSpc>
                <a:spcPct val="100000"/>
              </a:lnSpc>
              <a:buNone/>
            </a:pPr>
            <a:r>
              <a:rPr lang="bg-BG" sz="2800" dirty="0">
                <a:solidFill>
                  <a:srgbClr val="35403A"/>
                </a:solidFill>
                <a:latin typeface="Aptos"/>
              </a:rPr>
              <a:t>През 17 век и началото на 18 българската</a:t>
            </a:r>
            <a:r>
              <a:rPr lang="bg-BG" sz="2800" dirty="0">
                <a:solidFill>
                  <a:srgbClr val="35403A"/>
                </a:solidFill>
                <a:latin typeface="Aptos"/>
                <a:ea typeface="+mn-lt"/>
                <a:cs typeface="+mn-lt"/>
              </a:rPr>
              <a:t> държавност липсва Манастирите са единствените съхраняващи езика и културата. Франция с управлението на Бурбоните, Австрия, Османската и Римската империя управляват Европа с голямата площ и сила</a:t>
            </a:r>
            <a:endParaRPr lang="bg-BG" sz="2800">
              <a:solidFill>
                <a:srgbClr val="35403A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bg-BG" sz="2900" dirty="0">
              <a:solidFill>
                <a:srgbClr val="35403A"/>
              </a:solidFill>
              <a:latin typeface="Aptos"/>
            </a:endParaRPr>
          </a:p>
        </p:txBody>
      </p:sp>
      <p:cxnSp>
        <p:nvCxnSpPr>
          <p:cNvPr id="3" name="Съединител &quot;права стрелка&quot; 2">
            <a:extLst>
              <a:ext uri="{FF2B5EF4-FFF2-40B4-BE49-F238E27FC236}">
                <a16:creationId xmlns:a16="http://schemas.microsoft.com/office/drawing/2014/main" id="{562B3B34-17CF-5536-CA5E-52A7EF78C6EE}"/>
              </a:ext>
            </a:extLst>
          </p:cNvPr>
          <p:cNvCxnSpPr/>
          <p:nvPr/>
        </p:nvCxnSpPr>
        <p:spPr>
          <a:xfrm>
            <a:off x="238396" y="2129671"/>
            <a:ext cx="6123349" cy="45322"/>
          </a:xfrm>
          <a:prstGeom prst="straightConnector1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Блоксхема: процес 7">
            <a:extLst>
              <a:ext uri="{FF2B5EF4-FFF2-40B4-BE49-F238E27FC236}">
                <a16:creationId xmlns:a16="http://schemas.microsoft.com/office/drawing/2014/main" id="{16CC19B1-1852-10A1-13FB-72E6A65E5A31}"/>
              </a:ext>
            </a:extLst>
          </p:cNvPr>
          <p:cNvSpPr/>
          <p:nvPr/>
        </p:nvSpPr>
        <p:spPr>
          <a:xfrm>
            <a:off x="228027" y="2335263"/>
            <a:ext cx="141787" cy="4167876"/>
          </a:xfrm>
          <a:prstGeom prst="flowChart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0" name="Картина 9" descr="Hisatlas - Map of Europe 1800-1814">
            <a:extLst>
              <a:ext uri="{FF2B5EF4-FFF2-40B4-BE49-F238E27FC236}">
                <a16:creationId xmlns:a16="http://schemas.microsoft.com/office/drawing/2014/main" id="{453AB149-CB75-56A7-5718-2A52E60B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5" t="17252" r="159" b="-207"/>
          <a:stretch>
            <a:fillRect/>
          </a:stretch>
        </p:blipFill>
        <p:spPr>
          <a:xfrm>
            <a:off x="6548890" y="4371"/>
            <a:ext cx="6395577" cy="68508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409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Контейнер за съдържание 6" descr="Map of Europe at the time of Treaty of Vienna in 1815 - Answers">
            <a:extLst>
              <a:ext uri="{FF2B5EF4-FFF2-40B4-BE49-F238E27FC236}">
                <a16:creationId xmlns:a16="http://schemas.microsoft.com/office/drawing/2014/main" id="{BD30CA5D-1673-FE70-4FED-8E37C8B6B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06" t="12314" r="584" b="6369"/>
          <a:stretch>
            <a:fillRect/>
          </a:stretch>
        </p:blipFill>
        <p:spPr>
          <a:xfrm>
            <a:off x="-6118" y="-161436"/>
            <a:ext cx="12200950" cy="7021956"/>
          </a:xfrm>
          <a:prstGeom prst="rect">
            <a:avLst/>
          </a:prstGeom>
        </p:spPr>
      </p:pic>
      <p:sp>
        <p:nvSpPr>
          <p:cNvPr id="11" name="Правоъгълник 10">
            <a:extLst>
              <a:ext uri="{FF2B5EF4-FFF2-40B4-BE49-F238E27FC236}">
                <a16:creationId xmlns:a16="http://schemas.microsoft.com/office/drawing/2014/main" id="{360092DE-BD4E-9D5B-AD7C-574C199DD028}"/>
              </a:ext>
            </a:extLst>
          </p:cNvPr>
          <p:cNvSpPr/>
          <p:nvPr/>
        </p:nvSpPr>
        <p:spPr>
          <a:xfrm>
            <a:off x="-5961" y="1183803"/>
            <a:ext cx="6768857" cy="3656274"/>
          </a:xfrm>
          <a:prstGeom prst="rect">
            <a:avLst/>
          </a:prstGeom>
          <a:solidFill>
            <a:srgbClr val="40404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C18035F-B9C6-6002-9844-8D98E6B8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56" y="555115"/>
            <a:ext cx="10449784" cy="1265928"/>
          </a:xfrm>
        </p:spPr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2. Европа след Виенския конгрес</a:t>
            </a:r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B98A904C-3B6B-C7BA-ABB8-AE714867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701B6DCE-AF9C-A432-15BD-5A23C7ADA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381B31A2-45A1-C346-AA55-08E8FA05D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92C6-77D8-421D-8F78-9FF755948C8C}" type="datetime1">
              <a:t>10.3.2026 г.</a:t>
            </a:fld>
            <a:endParaRPr lang="en-US"/>
          </a:p>
        </p:txBody>
      </p:sp>
      <p:sp>
        <p:nvSpPr>
          <p:cNvPr id="14" name="Контейнер за съдържание 18">
            <a:extLst>
              <a:ext uri="{FF2B5EF4-FFF2-40B4-BE49-F238E27FC236}">
                <a16:creationId xmlns:a16="http://schemas.microsoft.com/office/drawing/2014/main" id="{5B3947D2-F9EA-BE16-0430-7CD9E4440E27}"/>
              </a:ext>
            </a:extLst>
          </p:cNvPr>
          <p:cNvSpPr txBox="1">
            <a:spLocks/>
          </p:cNvSpPr>
          <p:nvPr/>
        </p:nvSpPr>
        <p:spPr>
          <a:xfrm>
            <a:off x="199330" y="1719573"/>
            <a:ext cx="6569818" cy="39038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2400" dirty="0">
                <a:solidFill>
                  <a:srgbClr val="F2F2F2"/>
                </a:solidFill>
                <a:latin typeface="Aptos"/>
                <a:ea typeface="+mn-lt"/>
                <a:cs typeface="+mn-lt"/>
              </a:rPr>
              <a:t>Идеите за свобода и равенство започват да разклащат основите на монархиите в цяла Европа</a:t>
            </a:r>
            <a:r>
              <a:rPr lang="bg-BG" sz="2400" dirty="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+mn-lt"/>
              </a:rPr>
              <a:t> довеждайки до свикване</a:t>
            </a:r>
            <a:r>
              <a:rPr lang="bg-BG" sz="240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на Виенския конгрес </a:t>
            </a:r>
            <a:r>
              <a:rPr lang="bg-BG" sz="2400" dirty="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+mn-lt"/>
              </a:rPr>
              <a:t>на победителите, на който е поканена и Франция. На конгреса се взимат решения за новата карта на Европа след падането на Наполеон.</a:t>
            </a:r>
            <a:endParaRPr lang="bg-BG" sz="2400" dirty="0">
              <a:solidFill>
                <a:schemeClr val="bg1">
                  <a:lumMod val="95000"/>
                </a:schemeClr>
              </a:solidFill>
              <a:latin typeface="Aptos"/>
            </a:endParaRPr>
          </a:p>
          <a:p>
            <a:pPr marL="0" indent="0">
              <a:buNone/>
            </a:pPr>
            <a:endParaRPr lang="bg-BG" sz="2400" dirty="0">
              <a:solidFill>
                <a:schemeClr val="bg1">
                  <a:lumMod val="95000"/>
                </a:schemeClr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13609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1D5CCBB-3E4E-44A0-DD63-09263E3B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3697"/>
            <a:ext cx="10449784" cy="1265928"/>
          </a:xfrm>
        </p:spPr>
        <p:txBody>
          <a:bodyPr>
            <a:noAutofit/>
          </a:bodyPr>
          <a:lstStyle/>
          <a:p>
            <a:r>
              <a:rPr lang="bg-BG" sz="3600" b="1" dirty="0"/>
              <a:t>Новите промени в Европа след Виенския конгрес</a:t>
            </a:r>
          </a:p>
        </p:txBody>
      </p:sp>
      <p:graphicFrame>
        <p:nvGraphicFramePr>
          <p:cNvPr id="8" name="Контейнер за съдържание 7">
            <a:extLst>
              <a:ext uri="{FF2B5EF4-FFF2-40B4-BE49-F238E27FC236}">
                <a16:creationId xmlns:a16="http://schemas.microsoft.com/office/drawing/2014/main" id="{775A1451-3C41-8CF2-8A8C-9A438677CC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954724"/>
              </p:ext>
            </p:extLst>
          </p:nvPr>
        </p:nvGraphicFramePr>
        <p:xfrm>
          <a:off x="877888" y="2157413"/>
          <a:ext cx="10442574" cy="4138302"/>
        </p:xfrm>
        <a:graphic>
          <a:graphicData uri="http://schemas.openxmlformats.org/drawingml/2006/table">
            <a:tbl>
              <a:tblPr firstRow="1" firstCol="1" bandRow="1" bandCol="1">
                <a:tableStyleId>{91EBBBCC-DAD2-459C-BE2E-F6DE35CF9A28}</a:tableStyleId>
              </a:tblPr>
              <a:tblGrid>
                <a:gridCol w="2703419">
                  <a:extLst>
                    <a:ext uri="{9D8B030D-6E8A-4147-A177-3AD203B41FA5}">
                      <a16:colId xmlns:a16="http://schemas.microsoft.com/office/drawing/2014/main" val="294585805"/>
                    </a:ext>
                  </a:extLst>
                </a:gridCol>
                <a:gridCol w="7739155">
                  <a:extLst>
                    <a:ext uri="{9D8B030D-6E8A-4147-A177-3AD203B41FA5}">
                      <a16:colId xmlns:a16="http://schemas.microsoft.com/office/drawing/2014/main" val="163571541"/>
                    </a:ext>
                  </a:extLst>
                </a:gridCol>
              </a:tblGrid>
              <a:tr h="504484">
                <a:tc>
                  <a:txBody>
                    <a:bodyPr/>
                    <a:lstStyle/>
                    <a:p>
                      <a:r>
                        <a:rPr lang="bg-BG" sz="3200" dirty="0"/>
                        <a:t>Държава</a:t>
                      </a:r>
                    </a:p>
                  </a:txBody>
                  <a:tcPr>
                    <a:lnR w="12700">
                      <a:solidFill>
                        <a:schemeClr val="bg1"/>
                      </a:solidFill>
                    </a:lnR>
                    <a:lnB w="12700">
                      <a:solidFill>
                        <a:schemeClr val="bg1"/>
                      </a:solidFill>
                    </a:lnB>
                    <a:solidFill>
                      <a:srgbClr val="3B73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bg-BG" sz="3200" dirty="0"/>
                        <a:t>Териториални Промени</a:t>
                      </a:r>
                    </a:p>
                  </a:txBody>
                  <a:tcPr>
                    <a:lnL w="12700">
                      <a:solidFill>
                        <a:schemeClr val="bg1"/>
                      </a:solidFill>
                    </a:lnL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487772"/>
                  </a:ext>
                </a:extLst>
              </a:tr>
              <a:tr h="504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bg-BG" sz="2400" u="none" dirty="0">
                          <a:solidFill>
                            <a:schemeClr val="bg1"/>
                          </a:solidFill>
                        </a:rPr>
                        <a:t>Великобритания</a:t>
                      </a:r>
                    </a:p>
                  </a:txBody>
                  <a:tcPr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rgbClr val="FFB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Aptos"/>
                        </a:rPr>
                        <a:t>Получава о. Малта Цейлон, Йонийските острови, </a:t>
                      </a:r>
                      <a:r>
                        <a:rPr lang="bg-BG" err="1">
                          <a:latin typeface="Aptos"/>
                        </a:rPr>
                        <a:t>Тринадад</a:t>
                      </a:r>
                      <a:endParaRPr lang="bg-BG" dirty="0" err="1">
                        <a:latin typeface="Aptos"/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</a:lnL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809314"/>
                  </a:ext>
                </a:extLst>
              </a:tr>
              <a:tr h="5322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bg-BG" sz="2400" dirty="0">
                          <a:solidFill>
                            <a:schemeClr val="bg1"/>
                          </a:solidFill>
                        </a:rPr>
                        <a:t>Франция</a:t>
                      </a:r>
                      <a:endParaRPr lang="bg-B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rgbClr val="FFB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Aptos"/>
                        </a:rPr>
                        <a:t>Върната е в границите от 1790г.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785989"/>
                  </a:ext>
                </a:extLst>
              </a:tr>
              <a:tr h="504483">
                <a:tc>
                  <a:txBody>
                    <a:bodyPr/>
                    <a:lstStyle/>
                    <a:p>
                      <a:r>
                        <a:rPr lang="bg-BG" sz="2400" dirty="0">
                          <a:solidFill>
                            <a:schemeClr val="bg1"/>
                          </a:solidFill>
                        </a:rPr>
                        <a:t>Русия</a:t>
                      </a:r>
                    </a:p>
                  </a:txBody>
                  <a:tcPr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rgbClr val="FFB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Aptos"/>
                        </a:rPr>
                        <a:t>Получава Варшавското Херцогство и Бесарабия</a:t>
                      </a:r>
                    </a:p>
                  </a:txBody>
                  <a:tcPr>
                    <a:lnL w="12700">
                      <a:solidFill>
                        <a:schemeClr val="bg1"/>
                      </a:solidFill>
                    </a:lnL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638020"/>
                  </a:ext>
                </a:extLst>
              </a:tr>
              <a:tr h="504484">
                <a:tc>
                  <a:txBody>
                    <a:bodyPr/>
                    <a:lstStyle/>
                    <a:p>
                      <a:r>
                        <a:rPr lang="bg-BG" sz="2400" dirty="0">
                          <a:solidFill>
                            <a:schemeClr val="bg1"/>
                          </a:solidFill>
                        </a:rPr>
                        <a:t>Австрия</a:t>
                      </a:r>
                    </a:p>
                  </a:txBody>
                  <a:tcPr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rgbClr val="FFB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Aptos"/>
                        </a:rPr>
                        <a:t>Получава Венеция, Ломбардия, части от Полша и Галиция</a:t>
                      </a:r>
                    </a:p>
                  </a:txBody>
                  <a:tcPr>
                    <a:lnL w="12700">
                      <a:solidFill>
                        <a:schemeClr val="bg1"/>
                      </a:solidFill>
                    </a:lnL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930868"/>
                  </a:ext>
                </a:extLst>
              </a:tr>
              <a:tr h="504484">
                <a:tc>
                  <a:txBody>
                    <a:bodyPr/>
                    <a:lstStyle/>
                    <a:p>
                      <a:r>
                        <a:rPr lang="bg-BG" sz="2400" dirty="0">
                          <a:solidFill>
                            <a:schemeClr val="bg1"/>
                          </a:solidFill>
                        </a:rPr>
                        <a:t>Италия</a:t>
                      </a:r>
                    </a:p>
                  </a:txBody>
                  <a:tcPr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rgbClr val="FFB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Aptos"/>
                        </a:rPr>
                        <a:t>Остава разделена на 8 държави</a:t>
                      </a:r>
                    </a:p>
                  </a:txBody>
                  <a:tcPr>
                    <a:lnL w="12700">
                      <a:solidFill>
                        <a:schemeClr val="bg1"/>
                      </a:solidFill>
                    </a:lnL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677566"/>
                  </a:ext>
                </a:extLst>
              </a:tr>
              <a:tr h="504484">
                <a:tc>
                  <a:txBody>
                    <a:bodyPr/>
                    <a:lstStyle/>
                    <a:p>
                      <a:r>
                        <a:rPr lang="bg-BG" sz="2400" dirty="0">
                          <a:solidFill>
                            <a:schemeClr val="bg1"/>
                          </a:solidFill>
                        </a:rPr>
                        <a:t>Германия</a:t>
                      </a:r>
                    </a:p>
                  </a:txBody>
                  <a:tcPr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rgbClr val="FFB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Aptos"/>
                        </a:rPr>
                        <a:t>Остава разделена на 34 държави</a:t>
                      </a:r>
                    </a:p>
                  </a:txBody>
                  <a:tcPr>
                    <a:lnL w="12700">
                      <a:solidFill>
                        <a:schemeClr val="bg1"/>
                      </a:solidFill>
                    </a:lnL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816820"/>
                  </a:ext>
                </a:extLst>
              </a:tr>
              <a:tr h="504484">
                <a:tc>
                  <a:txBody>
                    <a:bodyPr/>
                    <a:lstStyle/>
                    <a:p>
                      <a:r>
                        <a:rPr lang="bg-BG" sz="2400" dirty="0">
                          <a:solidFill>
                            <a:schemeClr val="bg1"/>
                          </a:solidFill>
                        </a:rPr>
                        <a:t>Прусия</a:t>
                      </a:r>
                    </a:p>
                  </a:txBody>
                  <a:tcPr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solidFill>
                      <a:srgbClr val="FFB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bg-BG" sz="1700" dirty="0">
                          <a:latin typeface="Aptos"/>
                        </a:rPr>
                        <a:t>Получава </a:t>
                      </a:r>
                      <a:r>
                        <a:rPr lang="bg-BG" sz="1700" dirty="0" err="1">
                          <a:latin typeface="Aptos"/>
                        </a:rPr>
                        <a:t>саксония</a:t>
                      </a:r>
                      <a:r>
                        <a:rPr lang="bg-BG" sz="1700" dirty="0">
                          <a:latin typeface="Aptos"/>
                        </a:rPr>
                        <a:t>, Вестфалия, Померания и части от левия бряг на Рейн</a:t>
                      </a:r>
                    </a:p>
                  </a:txBody>
                  <a:tcPr>
                    <a:lnL w="12700">
                      <a:solidFill>
                        <a:schemeClr val="bg1"/>
                      </a:solidFill>
                    </a:lnL>
                    <a:lnT w="12700">
                      <a:solidFill>
                        <a:schemeClr val="bg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82580811"/>
                  </a:ext>
                </a:extLst>
              </a:tr>
            </a:tbl>
          </a:graphicData>
        </a:graphic>
      </p:graphicFrame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AD40431-BA61-B2D7-5DD2-671E6C25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72B4-B367-46AB-9190-81F18919BD46}" type="datetime1">
              <a:t>10.3.2026 г.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8F3E5A33-2E45-2B3E-F3D1-79926FAE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E5DCFEFA-40C5-A735-BE32-4A2D6321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6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1D1C601-7BEE-CBCB-F350-FED578D97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0725" y="327287"/>
            <a:ext cx="9552086" cy="1265928"/>
          </a:xfrm>
        </p:spPr>
        <p:txBody>
          <a:bodyPr>
            <a:normAutofit/>
          </a:bodyPr>
          <a:lstStyle/>
          <a:p>
            <a:r>
              <a:rPr lang="bg-BG" sz="3400" b="1" dirty="0"/>
              <a:t>     Българското възраждане и </a:t>
            </a:r>
            <a:br>
              <a:rPr lang="bg-BG" sz="3400" b="1" dirty="0"/>
            </a:br>
            <a:r>
              <a:rPr lang="bg-BG" sz="3400" b="1" dirty="0"/>
              <a:t>    Новите балкански държави</a:t>
            </a:r>
            <a:endParaRPr lang="bg-BG" sz="3400"/>
          </a:p>
        </p:txBody>
      </p:sp>
      <p:pic>
        <p:nvPicPr>
          <p:cNvPr id="8" name="Контейнер за съдържание 7" descr="Картина, която съдържа текст, карта, атлас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46C2116F-A2EA-D42B-54E1-7314A6887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0" y="-2755"/>
            <a:ext cx="5852775" cy="6878749"/>
          </a:xfrm>
          <a:prstGeom prst="rect">
            <a:avLst/>
          </a:prstGeom>
        </p:spPr>
      </p:pic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655D0324-4D04-A87E-CAD4-A387AB75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0B2D-15ED-4350-989C-763D27814929}" type="datetime1">
              <a:t>3/10/2026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E9AC56D7-F1A4-8468-0861-2612501D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7903DDD1-7E2C-704D-62D8-8A2B8BD2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/>
          </a:p>
        </p:txBody>
      </p:sp>
      <p:sp>
        <p:nvSpPr>
          <p:cNvPr id="12" name="Звезда: 8 лъча 11">
            <a:extLst>
              <a:ext uri="{FF2B5EF4-FFF2-40B4-BE49-F238E27FC236}">
                <a16:creationId xmlns:a16="http://schemas.microsoft.com/office/drawing/2014/main" id="{98CFD7F3-40E4-F9B9-3611-05E25FC52E68}"/>
              </a:ext>
            </a:extLst>
          </p:cNvPr>
          <p:cNvSpPr/>
          <p:nvPr/>
        </p:nvSpPr>
        <p:spPr>
          <a:xfrm>
            <a:off x="5153633" y="261688"/>
            <a:ext cx="1462077" cy="1408186"/>
          </a:xfrm>
          <a:prstGeom prst="star8">
            <a:avLst/>
          </a:prstGeom>
          <a:solidFill>
            <a:srgbClr val="FFBB2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Заглавие 1">
            <a:extLst>
              <a:ext uri="{FF2B5EF4-FFF2-40B4-BE49-F238E27FC236}">
                <a16:creationId xmlns:a16="http://schemas.microsoft.com/office/drawing/2014/main" id="{8C502D15-398D-D6D7-3CFF-24934AFB5426}"/>
              </a:ext>
            </a:extLst>
          </p:cNvPr>
          <p:cNvSpPr txBox="1">
            <a:spLocks/>
          </p:cNvSpPr>
          <p:nvPr/>
        </p:nvSpPr>
        <p:spPr>
          <a:xfrm>
            <a:off x="5449371" y="260480"/>
            <a:ext cx="919566" cy="1203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7200" dirty="0">
                <a:solidFill>
                  <a:schemeClr val="accent2">
                    <a:lumMod val="49000"/>
                  </a:schemeClr>
                </a:solidFill>
              </a:rPr>
              <a:t>3.</a:t>
            </a:r>
            <a:endParaRPr lang="bg-BG" dirty="0">
              <a:solidFill>
                <a:schemeClr val="accent2">
                  <a:lumMod val="49000"/>
                </a:schemeClr>
              </a:solidFill>
            </a:endParaRPr>
          </a:p>
        </p:txBody>
      </p:sp>
      <p:sp>
        <p:nvSpPr>
          <p:cNvPr id="16" name="Текстово поле 15">
            <a:extLst>
              <a:ext uri="{FF2B5EF4-FFF2-40B4-BE49-F238E27FC236}">
                <a16:creationId xmlns:a16="http://schemas.microsoft.com/office/drawing/2014/main" id="{AABF5045-41C5-F63E-57C1-CF94F401E5DB}"/>
              </a:ext>
            </a:extLst>
          </p:cNvPr>
          <p:cNvSpPr txBox="1"/>
          <p:nvPr/>
        </p:nvSpPr>
        <p:spPr>
          <a:xfrm>
            <a:off x="6610798" y="1820617"/>
            <a:ext cx="5835221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24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На Балканите през 18-19 век</a:t>
            </a:r>
          </a:p>
          <a:p>
            <a:r>
              <a:rPr lang="bg-BG" sz="2400" dirty="0">
                <a:latin typeface="Aptos"/>
              </a:rPr>
              <a:t>Е период на пробуждане за българи,</a:t>
            </a:r>
          </a:p>
          <a:p>
            <a:r>
              <a:rPr lang="bg-BG" sz="2400" dirty="0">
                <a:latin typeface="Aptos"/>
              </a:rPr>
              <a:t>сърби и гърци се осъзнават чрез</a:t>
            </a:r>
          </a:p>
          <a:p>
            <a:r>
              <a:rPr lang="bg-BG" sz="2400" dirty="0">
                <a:latin typeface="Aptos"/>
              </a:rPr>
              <a:t>образование и култура след </a:t>
            </a:r>
          </a:p>
          <a:p>
            <a:r>
              <a:rPr lang="bg-BG" sz="2400" dirty="0">
                <a:latin typeface="Aptos"/>
              </a:rPr>
              <a:t>сръбските въстания се утвърждава</a:t>
            </a:r>
          </a:p>
          <a:p>
            <a:r>
              <a:rPr lang="bg-BG" sz="2400" dirty="0">
                <a:latin typeface="Aptos"/>
              </a:rPr>
              <a:t>Сръбската държава 1829г. Гръцката</a:t>
            </a:r>
          </a:p>
          <a:p>
            <a:r>
              <a:rPr lang="bg-BG" sz="2400" dirty="0">
                <a:latin typeface="Aptos"/>
              </a:rPr>
              <a:t>Воина за независимост се води 8 г.</a:t>
            </a:r>
          </a:p>
          <a:p>
            <a:r>
              <a:rPr lang="bg-BG" sz="24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В борбата за независима църква </a:t>
            </a:r>
            <a:endParaRPr lang="bg-BG" dirty="0">
              <a:solidFill>
                <a:srgbClr val="000000"/>
              </a:solidFill>
              <a:latin typeface="Aptos Light"/>
              <a:ea typeface="+mn-lt"/>
              <a:cs typeface="+mn-lt"/>
            </a:endParaRPr>
          </a:p>
          <a:p>
            <a:r>
              <a:rPr lang="bg-BG" sz="2400" dirty="0">
                <a:latin typeface="Aptos"/>
              </a:rPr>
              <a:t>Българите </a:t>
            </a:r>
            <a:r>
              <a:rPr lang="bg-BG" sz="24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се борят не само срещу турската политическа власт, но и срещу гръцкото духовно влияние</a:t>
            </a:r>
          </a:p>
        </p:txBody>
      </p:sp>
    </p:spTree>
    <p:extLst>
      <p:ext uri="{BB962C8B-B14F-4D97-AF65-F5344CB8AC3E}">
        <p14:creationId xmlns:p14="http://schemas.microsoft.com/office/powerpoint/2010/main" val="58183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FFDB816-456D-53CF-5049-89711678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5108" y="515177"/>
            <a:ext cx="10449784" cy="1265928"/>
          </a:xfrm>
        </p:spPr>
        <p:txBody>
          <a:bodyPr>
            <a:noAutofit/>
          </a:bodyPr>
          <a:lstStyle/>
          <a:p>
            <a:r>
              <a:rPr lang="bg-BG" sz="4800" dirty="0"/>
              <a:t>Санстефанския </a:t>
            </a:r>
            <a:br>
              <a:rPr lang="bg-BG" sz="4800" dirty="0"/>
            </a:br>
            <a:r>
              <a:rPr lang="bg-BG" sz="4800" dirty="0"/>
              <a:t>и берлинския договор</a:t>
            </a:r>
          </a:p>
        </p:txBody>
      </p:sp>
      <p:pic>
        <p:nvPicPr>
          <p:cNvPr id="15" name="Контейнер за съдържание 14" descr="Санстефански мирен договор – Уикипедия">
            <a:extLst>
              <a:ext uri="{FF2B5EF4-FFF2-40B4-BE49-F238E27FC236}">
                <a16:creationId xmlns:a16="http://schemas.microsoft.com/office/drawing/2014/main" id="{68D5E623-3B65-0BB5-672E-96B7095FE1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1749" y="3285327"/>
            <a:ext cx="5901035" cy="3434093"/>
          </a:xfrm>
          <a:prstGeom prst="rect">
            <a:avLst/>
          </a:prstGeom>
        </p:spPr>
      </p:pic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9E182C23-2898-FD04-58C6-4A2F0E71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F32F0-A91D-4758-9687-81BD0C273EE9}" type="datetime1">
              <a:t>3/10/2026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FDD2014D-8B3A-D383-C854-C831EC76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AAF90806-8C03-FCD2-111F-26966A18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/>
          </a:p>
        </p:txBody>
      </p:sp>
      <p:sp>
        <p:nvSpPr>
          <p:cNvPr id="12" name="Звезда: 8 лъча 11">
            <a:extLst>
              <a:ext uri="{FF2B5EF4-FFF2-40B4-BE49-F238E27FC236}">
                <a16:creationId xmlns:a16="http://schemas.microsoft.com/office/drawing/2014/main" id="{1FCDE1D3-AE99-6E17-3B5E-55766D86EBA5}"/>
              </a:ext>
            </a:extLst>
          </p:cNvPr>
          <p:cNvSpPr/>
          <p:nvPr/>
        </p:nvSpPr>
        <p:spPr>
          <a:xfrm>
            <a:off x="4746537" y="376510"/>
            <a:ext cx="1462077" cy="1408186"/>
          </a:xfrm>
          <a:prstGeom prst="star8">
            <a:avLst/>
          </a:prstGeom>
          <a:solidFill>
            <a:srgbClr val="FFBB2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Заглавие 1">
            <a:extLst>
              <a:ext uri="{FF2B5EF4-FFF2-40B4-BE49-F238E27FC236}">
                <a16:creationId xmlns:a16="http://schemas.microsoft.com/office/drawing/2014/main" id="{ECF82B88-4339-A5D4-08A2-AD199B081934}"/>
              </a:ext>
            </a:extLst>
          </p:cNvPr>
          <p:cNvSpPr txBox="1">
            <a:spLocks/>
          </p:cNvSpPr>
          <p:nvPr/>
        </p:nvSpPr>
        <p:spPr>
          <a:xfrm>
            <a:off x="5042275" y="375302"/>
            <a:ext cx="919566" cy="1203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7200" dirty="0">
                <a:solidFill>
                  <a:schemeClr val="accent2">
                    <a:lumMod val="49000"/>
                  </a:schemeClr>
                </a:solidFill>
              </a:rPr>
              <a:t>4.</a:t>
            </a:r>
            <a:endParaRPr lang="bg-BG" dirty="0">
              <a:solidFill>
                <a:schemeClr val="accent2">
                  <a:lumMod val="49000"/>
                </a:schemeClr>
              </a:solidFill>
            </a:endParaRPr>
          </a:p>
        </p:txBody>
      </p:sp>
      <p:pic>
        <p:nvPicPr>
          <p:cNvPr id="16" name="Картина 15" descr="Берлински договор (1878 г.)">
            <a:extLst>
              <a:ext uri="{FF2B5EF4-FFF2-40B4-BE49-F238E27FC236}">
                <a16:creationId xmlns:a16="http://schemas.microsoft.com/office/drawing/2014/main" id="{A2BED063-693F-2908-469E-3D0A37B41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86" y="136743"/>
            <a:ext cx="4329830" cy="3567830"/>
          </a:xfrm>
          <a:prstGeom prst="rect">
            <a:avLst/>
          </a:prstGeom>
        </p:spPr>
      </p:pic>
      <p:sp>
        <p:nvSpPr>
          <p:cNvPr id="17" name="Текстово поле 16">
            <a:extLst>
              <a:ext uri="{FF2B5EF4-FFF2-40B4-BE49-F238E27FC236}">
                <a16:creationId xmlns:a16="http://schemas.microsoft.com/office/drawing/2014/main" id="{5596BFE4-467A-742E-FB0B-803AC5492A4B}"/>
              </a:ext>
            </a:extLst>
          </p:cNvPr>
          <p:cNvSpPr txBox="1"/>
          <p:nvPr/>
        </p:nvSpPr>
        <p:spPr>
          <a:xfrm>
            <a:off x="5040084" y="1780955"/>
            <a:ext cx="681476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2200" dirty="0">
                <a:latin typeface="Aptos"/>
              </a:rPr>
              <a:t>Санстефанския мирен договор </a:t>
            </a:r>
            <a:r>
              <a:rPr lang="bg-BG" sz="2200" dirty="0" err="1">
                <a:latin typeface="Aptos"/>
              </a:rPr>
              <a:t>договор</a:t>
            </a:r>
            <a:r>
              <a:rPr lang="bg-BG" sz="2200" dirty="0">
                <a:latin typeface="Aptos"/>
              </a:rPr>
              <a:t> между Османската и Руска империя подписан в 1878г. определят границите на България като голяма държава с много площ</a:t>
            </a:r>
            <a:endParaRPr lang="bg-BG" sz="2200">
              <a:solidFill>
                <a:srgbClr val="000000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18" name="Текстово поле 17">
            <a:extLst>
              <a:ext uri="{FF2B5EF4-FFF2-40B4-BE49-F238E27FC236}">
                <a16:creationId xmlns:a16="http://schemas.microsoft.com/office/drawing/2014/main" id="{5D2E1AAE-654A-04D3-0C5E-7F473D8F5DE8}"/>
              </a:ext>
            </a:extLst>
          </p:cNvPr>
          <p:cNvSpPr txBox="1"/>
          <p:nvPr/>
        </p:nvSpPr>
        <p:spPr>
          <a:xfrm>
            <a:off x="123617" y="3847748"/>
            <a:ext cx="619889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2400" dirty="0">
                <a:latin typeface="Aptos"/>
              </a:rPr>
              <a:t>Берлинския договор договор подписан малко след това извън княжество </a:t>
            </a:r>
            <a:r>
              <a:rPr lang="bg-BG" sz="2400" err="1">
                <a:latin typeface="Aptos"/>
              </a:rPr>
              <a:t>българия</a:t>
            </a:r>
            <a:r>
              <a:rPr lang="bg-BG" sz="2400" dirty="0">
                <a:latin typeface="Aptos"/>
              </a:rPr>
              <a:t> остава 150 000км² с над 2 мил.</a:t>
            </a:r>
          </a:p>
          <a:p>
            <a:r>
              <a:rPr lang="bg-BG" sz="2400" dirty="0">
                <a:latin typeface="Aptos"/>
              </a:rPr>
              <a:t>Българско население предизвиква </a:t>
            </a:r>
          </a:p>
          <a:p>
            <a:r>
              <a:rPr lang="bg-BG" sz="2400" dirty="0">
                <a:latin typeface="Aptos"/>
              </a:rPr>
              <a:t>масови протести и разделя България </a:t>
            </a:r>
            <a:endParaRPr lang="bg-BG" dirty="0">
              <a:latin typeface="Aptos Light"/>
            </a:endParaRPr>
          </a:p>
          <a:p>
            <a:r>
              <a:rPr lang="bg-BG" sz="2400" dirty="0">
                <a:latin typeface="Aptos"/>
              </a:rPr>
              <a:t>на 2 части Княжество България и Източна Румелия</a:t>
            </a:r>
            <a:endParaRPr lang="bg-BG" dirty="0">
              <a:latin typeface="Aptos Light"/>
            </a:endParaRPr>
          </a:p>
        </p:txBody>
      </p:sp>
    </p:spTree>
    <p:extLst>
      <p:ext uri="{BB962C8B-B14F-4D97-AF65-F5344CB8AC3E}">
        <p14:creationId xmlns:p14="http://schemas.microsoft.com/office/powerpoint/2010/main" val="465570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95845-CD48-8709-730F-49B461E4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EAE45C1-13F7-FA4F-1381-9E7EBE7EC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6747"/>
            <a:ext cx="9144000" cy="2209393"/>
          </a:xfrm>
        </p:spPr>
        <p:txBody>
          <a:bodyPr>
            <a:normAutofit/>
          </a:bodyPr>
          <a:lstStyle/>
          <a:p>
            <a:r>
              <a:rPr lang="bg-BG" sz="6000" b="1" dirty="0">
                <a:solidFill>
                  <a:srgbClr val="FFC000"/>
                </a:solidFill>
              </a:rPr>
              <a:t>Благодаря</a:t>
            </a:r>
            <a:r>
              <a:rPr lang="bg-BG" sz="6000" b="1" dirty="0">
                <a:solidFill>
                  <a:schemeClr val="accent5">
                    <a:lumMod val="76000"/>
                  </a:schemeClr>
                </a:solidFill>
              </a:rPr>
              <a:t> </a:t>
            </a:r>
            <a:r>
              <a:rPr lang="bg-BG" sz="6000" b="1" dirty="0">
                <a:solidFill>
                  <a:srgbClr val="3B7300"/>
                </a:solidFill>
              </a:rPr>
              <a:t>За</a:t>
            </a:r>
            <a:r>
              <a:rPr lang="bg-BG" sz="6000" b="1" dirty="0">
                <a:solidFill>
                  <a:schemeClr val="accent2">
                    <a:lumMod val="76000"/>
                  </a:schemeClr>
                </a:solidFill>
              </a:rPr>
              <a:t> </a:t>
            </a:r>
            <a:r>
              <a:rPr lang="bg-BG" sz="6000" b="1" dirty="0">
                <a:solidFill>
                  <a:srgbClr val="C00000"/>
                </a:solidFill>
              </a:rPr>
              <a:t>Вниманието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E5BCEC89-A0D3-F972-FE80-296DD9271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6627" y="3437260"/>
            <a:ext cx="9144000" cy="1066890"/>
          </a:xfrm>
        </p:spPr>
        <p:txBody>
          <a:bodyPr/>
          <a:lstStyle/>
          <a:p>
            <a:r>
              <a:rPr lang="bg-BG" sz="2800"/>
              <a:t>От Николай </a:t>
            </a:r>
            <a:r>
              <a:rPr lang="bg-BG" sz="2800" err="1"/>
              <a:t>Колчагов</a:t>
            </a:r>
            <a:endParaRPr lang="bg-BG" sz="2800"/>
          </a:p>
        </p:txBody>
      </p:sp>
      <p:pic>
        <p:nvPicPr>
          <p:cNvPr id="9" name="Картина 8" descr="Hisatlas - Map of Europe 1800-1814">
            <a:extLst>
              <a:ext uri="{FF2B5EF4-FFF2-40B4-BE49-F238E27FC236}">
                <a16:creationId xmlns:a16="http://schemas.microsoft.com/office/drawing/2014/main" id="{B22892FE-A4FD-BB2C-16CA-E4B24A6D3F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5" t="17252" r="159" b="-207"/>
          <a:stretch>
            <a:fillRect/>
          </a:stretch>
        </p:blipFill>
        <p:spPr>
          <a:xfrm rot="480000">
            <a:off x="60123" y="393134"/>
            <a:ext cx="3352204" cy="3594610"/>
          </a:xfrm>
          <a:prstGeom prst="rect">
            <a:avLst/>
          </a:prstGeom>
          <a:ln>
            <a:noFill/>
          </a:ln>
        </p:spPr>
      </p:pic>
      <p:pic>
        <p:nvPicPr>
          <p:cNvPr id="27" name="Контейнер за съдържание 14" descr="Санстефански мирен договор – Уикипедия">
            <a:extLst>
              <a:ext uri="{FF2B5EF4-FFF2-40B4-BE49-F238E27FC236}">
                <a16:creationId xmlns:a16="http://schemas.microsoft.com/office/drawing/2014/main" id="{E726118F-4E69-084D-62A8-30007F7B1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40000">
            <a:off x="7658911" y="-390349"/>
            <a:ext cx="5257276" cy="29479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Контейнер за съдържание 6" descr="Map of Europe at the time of Treaty of Vienna in 1815 - Answers">
            <a:extLst>
              <a:ext uri="{FF2B5EF4-FFF2-40B4-BE49-F238E27FC236}">
                <a16:creationId xmlns:a16="http://schemas.microsoft.com/office/drawing/2014/main" id="{50183798-8E23-3149-F124-FE1ED7D52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6" t="12314" r="584" b="6369"/>
          <a:stretch>
            <a:fillRect/>
          </a:stretch>
        </p:blipFill>
        <p:spPr>
          <a:xfrm rot="-300000">
            <a:off x="1849612" y="4372610"/>
            <a:ext cx="5397782" cy="361618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Контейнер за съдържание 7" descr="Картина, която съдържа текст, карта, атлас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91692DBC-BEA2-207A-F673-7CB842304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40000">
            <a:off x="9164309" y="2810752"/>
            <a:ext cx="2890807" cy="3277684"/>
          </a:xfrm>
          <a:prstGeom prst="rect">
            <a:avLst/>
          </a:prstGeom>
        </p:spPr>
      </p:pic>
      <p:grpSp>
        <p:nvGrpSpPr>
          <p:cNvPr id="10" name="Групиране 9">
            <a:extLst>
              <a:ext uri="{FF2B5EF4-FFF2-40B4-BE49-F238E27FC236}">
                <a16:creationId xmlns:a16="http://schemas.microsoft.com/office/drawing/2014/main" id="{D1E45D86-EA8E-5133-2574-707077AFD63E}"/>
              </a:ext>
            </a:extLst>
          </p:cNvPr>
          <p:cNvGrpSpPr/>
          <p:nvPr/>
        </p:nvGrpSpPr>
        <p:grpSpPr>
          <a:xfrm rot="420000">
            <a:off x="-99346" y="337690"/>
            <a:ext cx="3609120" cy="4385924"/>
            <a:chOff x="710507" y="663910"/>
            <a:chExt cx="3603880" cy="4380170"/>
          </a:xfrm>
        </p:grpSpPr>
        <p:sp>
          <p:nvSpPr>
            <p:cNvPr id="4" name="Правоъгълник 3">
              <a:extLst>
                <a:ext uri="{FF2B5EF4-FFF2-40B4-BE49-F238E27FC236}">
                  <a16:creationId xmlns:a16="http://schemas.microsoft.com/office/drawing/2014/main" id="{4E6DA9DB-69C5-11DB-9A82-F4FEF0BCADFC}"/>
                </a:ext>
              </a:extLst>
            </p:cNvPr>
            <p:cNvSpPr/>
            <p:nvPr/>
          </p:nvSpPr>
          <p:spPr>
            <a:xfrm>
              <a:off x="713965" y="745389"/>
              <a:ext cx="267841" cy="42038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5" name="Правоъгълник 4">
              <a:extLst>
                <a:ext uri="{FF2B5EF4-FFF2-40B4-BE49-F238E27FC236}">
                  <a16:creationId xmlns:a16="http://schemas.microsoft.com/office/drawing/2014/main" id="{D8F193A7-1813-F88B-9A01-6B2A97BC123D}"/>
                </a:ext>
              </a:extLst>
            </p:cNvPr>
            <p:cNvSpPr/>
            <p:nvPr/>
          </p:nvSpPr>
          <p:spPr>
            <a:xfrm>
              <a:off x="4039319" y="738150"/>
              <a:ext cx="275068" cy="3886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" name="Правоъгълник 5">
              <a:extLst>
                <a:ext uri="{FF2B5EF4-FFF2-40B4-BE49-F238E27FC236}">
                  <a16:creationId xmlns:a16="http://schemas.microsoft.com/office/drawing/2014/main" id="{2CBCD34C-76F0-3CCE-BAA5-B27493FE4AED}"/>
                </a:ext>
              </a:extLst>
            </p:cNvPr>
            <p:cNvSpPr/>
            <p:nvPr/>
          </p:nvSpPr>
          <p:spPr>
            <a:xfrm rot="5400000">
              <a:off x="2383916" y="-1009499"/>
              <a:ext cx="247563" cy="35943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" name="Правоъгълник 6">
              <a:extLst>
                <a:ext uri="{FF2B5EF4-FFF2-40B4-BE49-F238E27FC236}">
                  <a16:creationId xmlns:a16="http://schemas.microsoft.com/office/drawing/2014/main" id="{824991FB-9561-CD52-A98D-2F323C480666}"/>
                </a:ext>
              </a:extLst>
            </p:cNvPr>
            <p:cNvSpPr/>
            <p:nvPr/>
          </p:nvSpPr>
          <p:spPr>
            <a:xfrm rot="5400000">
              <a:off x="1941642" y="2676473"/>
              <a:ext cx="1137839" cy="35973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2" name="Групиране 11">
            <a:extLst>
              <a:ext uri="{FF2B5EF4-FFF2-40B4-BE49-F238E27FC236}">
                <a16:creationId xmlns:a16="http://schemas.microsoft.com/office/drawing/2014/main" id="{CFA978A4-7377-2396-0DF1-525438A0C325}"/>
              </a:ext>
            </a:extLst>
          </p:cNvPr>
          <p:cNvGrpSpPr/>
          <p:nvPr/>
        </p:nvGrpSpPr>
        <p:grpSpPr>
          <a:xfrm rot="21360000">
            <a:off x="8962905" y="2652022"/>
            <a:ext cx="3258310" cy="4076078"/>
            <a:chOff x="710507" y="663910"/>
            <a:chExt cx="3603880" cy="4380170"/>
          </a:xfrm>
        </p:grpSpPr>
        <p:sp>
          <p:nvSpPr>
            <p:cNvPr id="13" name="Правоъгълник 12">
              <a:extLst>
                <a:ext uri="{FF2B5EF4-FFF2-40B4-BE49-F238E27FC236}">
                  <a16:creationId xmlns:a16="http://schemas.microsoft.com/office/drawing/2014/main" id="{E776381C-1E52-2BDE-87F6-04F5649B8850}"/>
                </a:ext>
              </a:extLst>
            </p:cNvPr>
            <p:cNvSpPr/>
            <p:nvPr/>
          </p:nvSpPr>
          <p:spPr>
            <a:xfrm>
              <a:off x="713965" y="745389"/>
              <a:ext cx="267841" cy="42038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Правоъгълник 13">
              <a:extLst>
                <a:ext uri="{FF2B5EF4-FFF2-40B4-BE49-F238E27FC236}">
                  <a16:creationId xmlns:a16="http://schemas.microsoft.com/office/drawing/2014/main" id="{96558AD5-F925-1FC2-991D-3244DAFE1A5B}"/>
                </a:ext>
              </a:extLst>
            </p:cNvPr>
            <p:cNvSpPr/>
            <p:nvPr/>
          </p:nvSpPr>
          <p:spPr>
            <a:xfrm>
              <a:off x="4039319" y="738150"/>
              <a:ext cx="275068" cy="3886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5" name="Правоъгълник 14">
              <a:extLst>
                <a:ext uri="{FF2B5EF4-FFF2-40B4-BE49-F238E27FC236}">
                  <a16:creationId xmlns:a16="http://schemas.microsoft.com/office/drawing/2014/main" id="{888733B5-8FFD-A62D-9C4A-B462DCA4963C}"/>
                </a:ext>
              </a:extLst>
            </p:cNvPr>
            <p:cNvSpPr/>
            <p:nvPr/>
          </p:nvSpPr>
          <p:spPr>
            <a:xfrm rot="5400000">
              <a:off x="2383916" y="-1009499"/>
              <a:ext cx="247563" cy="35943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6" name="Правоъгълник 15">
              <a:extLst>
                <a:ext uri="{FF2B5EF4-FFF2-40B4-BE49-F238E27FC236}">
                  <a16:creationId xmlns:a16="http://schemas.microsoft.com/office/drawing/2014/main" id="{C82060E9-B301-6C6E-D961-D5920DE412A0}"/>
                </a:ext>
              </a:extLst>
            </p:cNvPr>
            <p:cNvSpPr/>
            <p:nvPr/>
          </p:nvSpPr>
          <p:spPr>
            <a:xfrm rot="5400000">
              <a:off x="1941642" y="2676473"/>
              <a:ext cx="1137839" cy="35973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</p:spTree>
    <p:extLst>
      <p:ext uri="{BB962C8B-B14F-4D97-AF65-F5344CB8AC3E}">
        <p14:creationId xmlns:p14="http://schemas.microsoft.com/office/powerpoint/2010/main" val="161552169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 екран</PresentationFormat>
  <Slides>7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8" baseType="lpstr">
      <vt:lpstr>BohoVogueVTI</vt:lpstr>
      <vt:lpstr>Карти на  Европа и България  след 1815 г.</vt:lpstr>
      <vt:lpstr>Европа преди 1815 година</vt:lpstr>
      <vt:lpstr>2. Европа след Виенския конгрес</vt:lpstr>
      <vt:lpstr>Новите промени в Европа след Виенския конгрес</vt:lpstr>
      <vt:lpstr>     Българското възраждане и      Новите балкански държави</vt:lpstr>
      <vt:lpstr>Санстефанския  и берлинския договор</vt:lpstr>
      <vt:lpstr>Благодаря За Вниманието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674</cp:revision>
  <dcterms:created xsi:type="dcterms:W3CDTF">2026-03-09T00:37:31Z</dcterms:created>
  <dcterms:modified xsi:type="dcterms:W3CDTF">2026-03-10T22:58:41Z</dcterms:modified>
</cp:coreProperties>
</file>